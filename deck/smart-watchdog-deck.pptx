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各位評審好。我們要回答的問題只有一個：新北 1,216 家幼兒園，這一季最可能再出事的是哪幾家。接下來八分鐘，先給答案，再講怎麼算的、怎麼驗證的、人力跑不跑得完。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季初打開系統，第一眼是這份名單。高風險 37 家、中風險 233 家。每一列旁邊有再犯機率、最近違規類型、稽查重點三行。稽查員到園前就知道要看什麼。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為什麼不做全市大海撈針？因為資料很清楚：487 家曾被罰的園裡，48% 會再犯，貢獻了 75% 的事件；兩次裁罰的間隔 63% 在一年內。所以我們的觀察點從每一次裁罰後起算，盯 12 個月。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點開第一名。分數 100、再犯機率 68%。理由不是黑盒：近 12 個月事件、曾停止招生、歷年事件數，正的推高負的拉低。裁罰時間軸寫的是「教保人員對幼兒不當對待、罰鍰 40 萬」，承辦看得懂。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方法兩句話。第一，AUC 選模型：五個測試年逐年 walk-forward，模型 0.64 對按次數排序 0.61，所以它排得比較好。第二，recall 定門檻：抽檢寧可錯殺，門檻設在人力跑得完的最低點，抓到 72% 會再犯的園，代價是五家白跑四家。Accuracy 我們不拿來說嘴，因為基準率 15%。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總覽是地圖，1,216 園每園一個點，紅色高、黃色中。右邊行政區依高風險數排序，下面是 36 個月趨勢和區乘違規類型熱圖。哪一區、哪一類最集中，一眼看到。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名單有了，人力呢。312 次產能丟進 CP-SAT，20 秒排出行程。承辦可以選目標、設各區配額、釘選。拿 2021 到 2024 重播：同樣人力，這套排程命中次年被罰園四到五成，輪流只有四分之一。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負責人勾稽做的是線索不是判決。名下某園被罰，其他園進待確認層，人工看過再決定。我們刻意不把它放進分數，因為資料顯示持多園本身不是風險因子。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題目點名鑑識會計，我們做了，但誠實地放在附錄。38 家非營利園的決算 OCR 後做三燈，門檻用百分位定義，每個數字有出處。但被罰和未罰的財務比率幾乎一樣，硬把它塞進分數是造假。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同題的隊伍多半會交一個風險分數加一個儀表板。我們不一樣的三件事：名單裡有根因、人力算得出、限制講在前面。這是能拿到局裡用的東西。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評審會問這能重跑嗎。全部公開資料，clone 下來五分鐘就是真資料畫面，35 條測試，模型版本留痕。個人姓名在資料層就擋掉，不靠前端。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最後一頁是限制。它預測的是再被裁罰，不是傷害；沒紀錄不等於安全；財報只有公共化園。對命題三指標各給一個數字。程式在 GitHub，今天就能跑。謝謝。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4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DDE5DF"/>
                </a:solidFill>
                <a:latin typeface="PingFang TC"/>
              </a:rPr>
              <a:t>新北市政府 AI 黑客松 · 教育局命題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PingFang TC"/>
              </a:rPr>
              <a:t>小小守護員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PingFang TC"/>
              </a:rPr>
              <a:t>誰有可能是高風險幼兒園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PingFang TC"/>
              </a:rPr>
              <a:t>AI × 鑑識會計 · 教保機構智慧風險預警管理系統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DDE5DF"/>
                </a:solidFill>
                <a:latin typeface="PingFang TC"/>
              </a:rPr>
              <a:t>一份名單，三個答案：這季該去哪、為什麼、跑得完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DDE5DF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DDE5DF"/>
                </a:solidFill>
                <a:latin typeface="PingFang T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本季高風險名單：都是回頭客</a:t>
            </a:r>
          </a:p>
        </p:txBody>
      </p:sp>
      <p:pic>
        <p:nvPicPr>
          <p:cNvPr id="3" name="Picture 2" descr="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5923"/>
            <a:ext cx="7406639" cy="4166234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8138160" y="1463040"/>
            <a:ext cx="1691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5320" y="1572768"/>
            <a:ext cx="1417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Menlo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148840"/>
            <a:ext cx="1417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高風險（再犯機率 ≥ 22%）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1463040"/>
            <a:ext cx="1691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572768"/>
            <a:ext cx="1417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Menlo"/>
              </a:rPr>
              <a:t>233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2148840"/>
            <a:ext cx="14173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中風險（≥ 10%）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017520"/>
            <a:ext cx="3566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近 12 個月有裁罰的 74 家必訪，名下同負責人的 15 家待人工確認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每一列寫著：再犯機率、近 36 月違規類型、到園要看的三件事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這不是猜的，是回頭客資料算出來的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問題在回頭客，不在大海撈針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38528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Menlo"/>
              </a:rPr>
              <a:t>48%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有裁罰園再犯（234 / 487）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82880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938528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Menlo"/>
              </a:rP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5146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事件來自回頭客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38528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Menlo"/>
              </a:rPr>
              <a:t>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兩次裁罰間隔在一年內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828800"/>
            <a:ext cx="2651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938528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Menlo"/>
              </a:rPr>
              <a:t>26–33%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5146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裁罰後 12 個月內再犯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4A3E"/>
                </a:solidFill>
                <a:latin typeface="PingFang TC"/>
              </a:rPr>
              <a:t>一家幼兒園被罰完的那一天，承辦通常鬆一口氣結案；資料說，接下來 12 個月正是它最可能再出事的時候。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PingFang TC"/>
              </a:rPr>
              <a:t>新北裁罰 1,474 列 → 去重為 1,004 個園×日期事件；全國教保資訊網公開資料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單一園所怎麼看：結論在上，證據在下</a:t>
            </a:r>
          </a:p>
        </p:txBody>
      </p:sp>
      <p:pic>
        <p:nvPicPr>
          <p:cNvPr id="3" name="Picture 2" descr="detail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5923"/>
            <a:ext cx="7406639" cy="4166234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138160" y="1188720"/>
            <a:ext cx="356616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1">
                <a:solidFill>
                  <a:srgbClr val="0A0A0A"/>
                </a:solidFill>
                <a:latin typeface="PingFang TC"/>
              </a:rPr>
              <a:t>第一眼</a:t>
            </a:r>
            <a:r>
              <a:rPr sz="1600" b="0">
                <a:solidFill>
                  <a:srgbClr val="0A0A0A"/>
                </a:solidFill>
                <a:latin typeface="PingFang TC"/>
              </a:rPr>
              <a:t>：分數、12 個月再犯機率、全市排名、裁罰事件數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1">
                <a:solidFill>
                  <a:srgbClr val="0A0A0A"/>
                </a:solidFill>
                <a:latin typeface="PingFang TC"/>
              </a:rPr>
              <a:t>分數怎麼來</a:t>
            </a:r>
            <a:r>
              <a:rPr sz="1600" b="0">
                <a:solidFill>
                  <a:srgbClr val="0A0A0A"/>
                </a:solidFill>
                <a:latin typeface="PingFang TC"/>
              </a:rPr>
              <a:t>：模型對每個特徵的貢獻，正的推高、負的拉低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1">
                <a:solidFill>
                  <a:srgbClr val="0A0A0A"/>
                </a:solidFill>
                <a:latin typeface="PingFang TC"/>
              </a:rPr>
              <a:t>時間軸</a:t>
            </a:r>
            <a:r>
              <a:rPr sz="1600" b="0">
                <a:solidFill>
                  <a:srgbClr val="0A0A0A"/>
                </a:solidFill>
                <a:latin typeface="PingFang TC"/>
              </a:rPr>
              <a:t>寫具體違反什麼——不當對待、超收、師生比——不寫條號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往下是負責人關聯圖、財務體檢、輿情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分數怎麼來：AUC 選模型，recall 定門檻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D4A3E"/>
                </a:solidFill>
                <a:latin typeface="PingFang TC"/>
              </a:rPr>
              <a:t>五年 walk-forward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38404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768096"/>
                <a:gridCol w="768096"/>
                <a:gridCol w="768096"/>
                <a:gridCol w="768096"/>
              </a:tblGrid>
              <a:tr h="32918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280"/>
                          </a:solidFill>
                          <a:latin typeface="PingFang TC"/>
                        </a:rPr>
                        <a:t>測試年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280"/>
                          </a:solidFill>
                          <a:latin typeface="PingFang TC"/>
                        </a:rPr>
                        <a:t>觀察點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280"/>
                          </a:solidFill>
                          <a:latin typeface="PingFang TC"/>
                        </a:rPr>
                        <a:t>再犯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280"/>
                          </a:solidFill>
                          <a:latin typeface="PingFang TC"/>
                        </a:rPr>
                        <a:t>模型 AUC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B7280"/>
                          </a:solidFill>
                          <a:latin typeface="PingFang TC"/>
                        </a:rPr>
                        <a:t>按次數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PingFang TC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1,098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latin typeface="Menlo"/>
                        </a:rPr>
                        <a:t>0.717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0.612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PingFang TC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latin typeface="Menlo"/>
                        </a:rP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0.635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PingFang TC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1,489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latin typeface="Menlo"/>
                        </a:rPr>
                        <a:t>0.655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0.624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PingFang TC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1,753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latin typeface="Menlo"/>
                        </a:rPr>
                        <a:t>0.607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latin typeface="PingFang TC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latin typeface="Menlo"/>
                        </a:rPr>
                        <a:t>0.567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latin typeface="Menlo"/>
                        </a:rPr>
                        <a:t>0.564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3840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ingFang TC"/>
              </a:rPr>
              <a:t>測試年只用前一年之前的資料訓練（365 天空窗）；邏輯迴歸、13 個事件史特徵、seed 固定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2588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D4A3E"/>
                </a:solidFill>
                <a:latin typeface="PingFang TC"/>
              </a:rPr>
              <a:t>抽檢寧可錯殺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783080"/>
            <a:ext cx="11430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ingFang TC"/>
              </a:rPr>
              <a:t>預測再犯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11430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ingFang TC"/>
              </a:rPr>
              <a:t>預測不再犯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11430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ingFang TC"/>
              </a:rPr>
              <a:t>實際再犯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2560320"/>
            <a:ext cx="1097280" cy="731520"/>
          </a:xfrm>
          <a:prstGeom prst="rect">
            <a:avLst/>
          </a:prstGeom>
          <a:solidFill>
            <a:srgbClr val="E8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0A0A"/>
                </a:solidFill>
                <a:latin typeface="Menlo"/>
              </a:rPr>
              <a:t>640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PingFang TC"/>
              </a:rPr>
              <a:t>抓到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560320"/>
            <a:ext cx="1097280" cy="73152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0A0A"/>
                </a:solidFill>
                <a:latin typeface="Menlo"/>
              </a:rPr>
              <a:t>251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PingFang TC"/>
              </a:rPr>
              <a:t>漏抓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37560"/>
            <a:ext cx="11430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PingFang TC"/>
              </a:rPr>
              <a:t>實際未再犯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3337560"/>
            <a:ext cx="1097280" cy="7315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0A0A"/>
                </a:solidFill>
                <a:latin typeface="Menlo"/>
              </a:rPr>
              <a:t>3,140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PingFang TC"/>
              </a:rPr>
              <a:t>白跑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3337560"/>
            <a:ext cx="1097280" cy="731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0A0A"/>
                </a:solidFill>
                <a:latin typeface="Menlo"/>
              </a:rPr>
              <a:t>2,445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0624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ingFang TC"/>
              </a:rPr>
              <a:t>門檻「中」＝再犯機率 ≥ 10%，五年匯總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3258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D4A3E"/>
                </a:solidFill>
                <a:latin typeface="PingFang TC"/>
              </a:rPr>
              <a:t>怎麼讀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37360"/>
            <a:ext cx="32918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4A3E"/>
                </a:solidFill>
                <a:latin typeface="PingFang TC"/>
              </a:rPr>
              <a:t>•  </a:t>
            </a:r>
            <a:r>
              <a:rPr sz="1400" b="1">
                <a:solidFill>
                  <a:srgbClr val="0A0A0A"/>
                </a:solidFill>
                <a:latin typeface="PingFang TC"/>
              </a:rPr>
              <a:t>Recall 0.72</a:t>
            </a:r>
            <a:r>
              <a:rPr sz="1400" b="0">
                <a:solidFill>
                  <a:srgbClr val="0A0A0A"/>
                </a:solidFill>
                <a:latin typeface="PingFang TC"/>
              </a:rPr>
              <a:t>：會再犯的園，七成被抓進名單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4A3E"/>
                </a:solidFill>
                <a:latin typeface="PingFang TC"/>
              </a:rPr>
              <a:t>•  </a:t>
            </a:r>
            <a:r>
              <a:rPr sz="1400" b="0">
                <a:solidFill>
                  <a:srgbClr val="0A0A0A"/>
                </a:solidFill>
                <a:latin typeface="PingFang TC"/>
              </a:rPr>
              <a:t>Precision 0.17：五家白跑四家，那是抽檢的代價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4A3E"/>
                </a:solidFill>
                <a:latin typeface="PingFang TC"/>
              </a:rPr>
              <a:t>•  </a:t>
            </a:r>
            <a:r>
              <a:rPr sz="1400" b="0">
                <a:solidFill>
                  <a:srgbClr val="0A0A0A"/>
                </a:solidFill>
                <a:latin typeface="PingFang TC"/>
              </a:rPr>
              <a:t>Accuracy 0.48 沒有意義：基準率 15%，什麼都不抓 accuracy 就 85%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4A3E"/>
                </a:solidFill>
                <a:latin typeface="PingFang TC"/>
              </a:rPr>
              <a:t>•  </a:t>
            </a:r>
            <a:r>
              <a:rPr sz="1400" b="0">
                <a:solidFill>
                  <a:srgbClr val="0A0A0A"/>
                </a:solidFill>
                <a:latin typeface="PingFang TC"/>
              </a:rPr>
              <a:t>門檻設在人力跑得完的最低點；人力變了，設定頁改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全市在哪：每園一個點，點色＝再犯風險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188720"/>
            <a:ext cx="9103360" cy="5120640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跑得完：人力是約束，目標可以選</a:t>
            </a:r>
          </a:p>
        </p:txBody>
      </p:sp>
      <p:pic>
        <p:nvPicPr>
          <p:cNvPr id="3" name="Picture 2" descr="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5923"/>
            <a:ext cx="7406639" cy="4166234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138160" y="1188720"/>
            <a:ext cx="356616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3 位稽查員 × 每週 8 次 × 13 週 = 312 次產能，CP-SAT 排出週×稽查員行程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名單必訪、各區配額、釘選／排除都是硬約束；不可行時直接說原因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三種目標：風險優先／同區同負責人併訪／各區均衡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1">
                <a:solidFill>
                  <a:srgbClr val="0A0A0A"/>
                </a:solidFill>
                <a:latin typeface="PingFang TC"/>
              </a:rPr>
              <a:t>歷史重播</a:t>
            </a:r>
            <a:r>
              <a:rPr sz="1600" b="0">
                <a:solidFill>
                  <a:srgbClr val="0A0A0A"/>
                </a:solidFill>
                <a:latin typeface="PingFang TC"/>
              </a:rPr>
              <a:t>：同樣 312 次，命中次年被罰園 40–53%，輪流只有 25–28%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同負責人：名下其他園列入待確認</a:t>
            </a:r>
          </a:p>
        </p:txBody>
      </p:sp>
      <p:pic>
        <p:nvPicPr>
          <p:cNvPr id="3" name="Picture 2" descr="lin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5923"/>
            <a:ext cx="7406639" cy="4166234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138160" y="1188720"/>
            <a:ext cx="356616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負責人是公開登記資料；名下多園時，任一園被罰，其他園進「待確認」層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只列名單、</a:t>
            </a:r>
            <a:r>
              <a:rPr sz="1600" b="1">
                <a:solidFill>
                  <a:srgbClr val="0A0A0A"/>
                </a:solidFill>
                <a:latin typeface="PingFang TC"/>
              </a:rPr>
              <a:t>不進分數</a:t>
            </a:r>
            <a:r>
              <a:rPr sz="1600" b="0">
                <a:solidFill>
                  <a:srgbClr val="0A0A0A"/>
                </a:solidFill>
                <a:latin typeface="PingFang TC"/>
              </a:rPr>
              <a:t>：資料顯示持多園本身不是風險因子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同名不同人可一鍵排除，排名、匯出、關聯圖同步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鑑識會計是附錄，不是預言</a:t>
            </a:r>
          </a:p>
        </p:txBody>
      </p:sp>
      <p:pic>
        <p:nvPicPr>
          <p:cNvPr id="3" name="Picture 2" descr="detail-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5923"/>
            <a:ext cx="7406639" cy="4166234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138160" y="1188720"/>
            <a:ext cx="356616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38 家非營利園、155 園年決算，OCR 後過資產負債恆等式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三燈：人事費率、每核定名額收入、內控查核表；門檻用全體分佈百分位定義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被罰與未罰園的比率幾乎一樣（人事費率 0.58 vs 0.56）→ </a:t>
            </a:r>
            <a:r>
              <a:rPr sz="1600" b="1">
                <a:solidFill>
                  <a:srgbClr val="0A0A0A"/>
                </a:solidFill>
                <a:latin typeface="PingFang TC"/>
              </a:rPr>
              <a:t>不進分數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它回答的是「補助的錢有沒有花對」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不是又一個儀表板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PingFang TC"/>
              </a:rPr>
              <a:t>根因在名單裡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35661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0A0A0A"/>
                </a:solidFill>
                <a:latin typeface="PingFang TC"/>
              </a:rPr>
              <a:t>每列附違規類型計數與稽查重點三行，稽查員到園前就知道要看什麼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219456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PingFang TC"/>
              </a:rPr>
              <a:t>人力算得出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3017520"/>
            <a:ext cx="35661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0A0A0A"/>
                </a:solidFill>
                <a:latin typeface="PingFang TC"/>
              </a:rPr>
              <a:t>產能是系統內的約束，行程用最佳化排出，歷史重播給命中率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19456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4A3E"/>
                </a:solidFill>
                <a:latin typeface="PingFang TC"/>
              </a:rPr>
              <a:t>限制講在前面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017520"/>
            <a:ext cx="35661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0A0A0A"/>
                </a:solidFill>
                <a:latin typeface="PingFang TC"/>
              </a:rPr>
              <a:t>無紀錄不等於安全、財報不預測裁罰、precision 0.17 是抽檢的代價——寫在畫面上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全部公開、全部可重跑</a:t>
            </a:r>
          </a:p>
        </p:txBody>
      </p:sp>
      <p:pic>
        <p:nvPicPr>
          <p:cNvPr id="3" name="Picture 2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5923"/>
            <a:ext cx="7406639" cy="4166234"/>
          </a:xfrm>
          <a:prstGeom prst="rect">
            <a:avLst/>
          </a:prstGeom>
          <a:ln w="9525">
            <a:solidFill>
              <a:srgbClr val="E5E7E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138160" y="1188720"/>
            <a:ext cx="3566160" cy="5120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資料來源：全國教保資訊網、新北幼教資源網決算 PDF、Google 新聞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裁罰去重到事件層；被罰個人姓名在資料層就擋掉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1">
                <a:solidFill>
                  <a:srgbClr val="0A0A0A"/>
                </a:solidFill>
                <a:latin typeface="PingFang TC"/>
              </a:rPr>
              <a:t>make bootstrap</a:t>
            </a:r>
            <a:r>
              <a:rPr sz="1600" b="0">
                <a:solidFill>
                  <a:srgbClr val="0A0A0A"/>
                </a:solidFill>
                <a:latin typeface="PingFang TC"/>
              </a:rPr>
              <a:t>：clone 到真資料畫面五分鐘，不需 PDF、OCR、API key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35 條自動測試；模型核准與撤銷都留痕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000" b="1">
                <a:solidFill>
                  <a:srgbClr val="0A0A0A"/>
                </a:solidFill>
                <a:latin typeface="PingFang TC"/>
              </a:rPr>
              <a:t>限制，與命題三指標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PingFang TC"/>
              </a:rPr>
              <a:t>風險辨識率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中門檻 recall 0.72；模型 AUC 0.64 vs 按次數 0.61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46304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PingFang TC"/>
              </a:rPr>
              <a:t>縮短預警時間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0312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觀察點從裁罰後起算；下一次事件中位 151 天後，季排程趕得上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6304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544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PingFang TC"/>
              </a:rPr>
              <a:t>降低人力負擔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PingFang TC"/>
              </a:rPr>
              <a:t>同樣 312 次／季，命中 40–53% vs 輪流 25–28%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預測的是「12 個月內再被裁罰」，不是傷害；710 家「無紀錄」不等於安全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財報只有公共化園；輿情會混入同名園，只做情蒐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4A3E"/>
                </a:solidFill>
                <a:latin typeface="PingFang TC"/>
              </a:rPr>
              <a:t>•  </a:t>
            </a:r>
            <a:r>
              <a:rPr sz="1600" b="0">
                <a:solidFill>
                  <a:srgbClr val="0A0A0A"/>
                </a:solidFill>
                <a:latin typeface="PingFang TC"/>
              </a:rPr>
              <a:t>precision 0.17：名單是優先順序，不是有罪名單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PingFang TC"/>
              </a:rPr>
              <a:t>GitHub mumigood/NTPC-childcare-risk-monitor · docs/user-manual.md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PingFang TC"/>
              </a:rPr>
              <a:t>小小守護員 Smart Watchdog · 新北市教育局 AI 黑客松 · 資料日期 2026-09-11 · 事件層數字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PingFang T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